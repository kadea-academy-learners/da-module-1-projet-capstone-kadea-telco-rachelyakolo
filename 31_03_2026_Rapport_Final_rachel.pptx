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9" r:id="rId4"/>
    <p:sldId id="260" r:id="rId5"/>
    <p:sldId id="263" r:id="rId6"/>
    <p:sldId id="264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61992" autoAdjust="0"/>
  </p:normalViewPr>
  <p:slideViewPr>
    <p:cSldViewPr snapToGrid="0">
      <p:cViewPr varScale="1">
        <p:scale>
          <a:sx n="70" d="100"/>
          <a:sy n="70" d="100"/>
        </p:scale>
        <p:origin x="73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DBCE0A-D4FC-4718-98E4-77B53AF9C692}" type="datetimeFigureOut">
              <a:rPr lang="fr-FR" smtClean="0"/>
              <a:t>31/03/2026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53FA6F-A145-465F-AF56-7A0DC41244DC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872296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53FA6F-A145-465F-AF56-7A0DC41244DC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53010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ACDB3F-1782-7461-49B2-AC286361D4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2F323FE-7A68-50BE-C30F-60C273B40C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DFE3BAB-B62C-A6AA-4D48-5EADE3C83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83204-15E3-40B9-BDCC-F64F79AD84FC}" type="datetimeFigureOut">
              <a:rPr lang="fr-FR" smtClean="0"/>
              <a:t>31/03/2026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CFC8C23-01D6-9278-CC2D-67E62A8A8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9F6C7F9-B007-35E0-E9C2-E534A0C7F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4A16-382F-4B68-95B5-FB37A53BCAD5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06050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A9EC2B-4D80-3EAC-A3C7-C2603AD5D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D39CFF8-E906-C45F-0E15-E6D1B10CC9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6C8CC67-0989-CF53-6C9B-D36B1BB86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83204-15E3-40B9-BDCC-F64F79AD84FC}" type="datetimeFigureOut">
              <a:rPr lang="fr-FR" smtClean="0"/>
              <a:t>31/03/2026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EE2D0A0-4225-2DC2-2B5B-082319495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D1C34A3-5D71-8D8C-354F-244B2AA92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4A16-382F-4B68-95B5-FB37A53BCAD5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93226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19C7B0-A096-FAFE-F0B1-C2CD17320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43CAD08-4131-0E10-32CA-F0511732EC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04F02DB-C32F-C7B4-77C9-8E11632A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83204-15E3-40B9-BDCC-F64F79AD84FC}" type="datetimeFigureOut">
              <a:rPr lang="fr-FR" smtClean="0"/>
              <a:t>31/03/2026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3AD2ED8-D90A-46D5-AC4D-EC04938D2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A529F52-C863-2567-95FB-D33BA7AA0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4A16-382F-4B68-95B5-FB37A53BCAD5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43441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0795AD-F678-7E52-97ED-C50104186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F6678F1-D8CC-6E05-7A87-4E99FAFD13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40517AD-6EEB-C15C-BD22-16C698DE1D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7BF0B2B-78D4-04DF-931D-EF1B4FA14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83204-15E3-40B9-BDCC-F64F79AD84FC}" type="datetimeFigureOut">
              <a:rPr lang="fr-FR" smtClean="0"/>
              <a:t>31/03/2026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766E08E-97B2-C5B9-491B-2E507A680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9A65790-747E-F128-48FC-5CFF7BD9B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4A16-382F-4B68-95B5-FB37A53BCAD5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06376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57BEC4-BF9F-C985-3C35-B7EA95374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F41F190-D15F-9820-79B8-416C53F9AA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17F977B-3B0D-5281-10F0-FE6C6C83F8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0D62C47-1E74-DC5F-A3F4-2606F7B4B7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89AF7EE-2E7F-E47D-97CF-052D84B072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4E3E3DB-A898-BAB6-6DFF-BA107E4CB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83204-15E3-40B9-BDCC-F64F79AD84FC}" type="datetimeFigureOut">
              <a:rPr lang="fr-FR" smtClean="0"/>
              <a:t>31/03/2026</a:t>
            </a:fld>
            <a:endParaRPr lang="fr-FR" dirty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476DC2E-5B63-D667-70D9-D99357558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C0A897E-F91D-889C-7E90-486CEB219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4A16-382F-4B68-95B5-FB37A53BCAD5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02884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F86266-23B9-6464-F82E-EC176CCA1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DE85546-A0A7-E04E-5129-0DE334D0C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83204-15E3-40B9-BDCC-F64F79AD84FC}" type="datetimeFigureOut">
              <a:rPr lang="fr-FR" smtClean="0"/>
              <a:t>31/03/2026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B5A1AB8-0F28-C8A9-7CA0-ABDC8812E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2CC7FF7-91BB-A944-3AD1-F16279958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4A16-382F-4B68-95B5-FB37A53BCAD5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90219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8721103-38BD-4B9E-A00C-A31624B4E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83204-15E3-40B9-BDCC-F64F79AD84FC}" type="datetimeFigureOut">
              <a:rPr lang="fr-FR" smtClean="0"/>
              <a:t>31/03/2026</a:t>
            </a:fld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4A27F65-89B4-D22A-0F22-8209342B1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2C6F6BD-AAAC-54B3-79A4-94B54D0A7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4A16-382F-4B68-95B5-FB37A53BCAD5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68842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512466-2610-E6FF-116E-08BBAB6AA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F61362C-2042-10EA-545B-58B8B6650D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4448471-5CDC-053E-D525-8460326813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BAF70FD-3B2F-F76E-6FDA-9764A02C3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83204-15E3-40B9-BDCC-F64F79AD84FC}" type="datetimeFigureOut">
              <a:rPr lang="fr-FR" smtClean="0"/>
              <a:t>31/03/2026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EA18E86-C068-02E4-1547-5AE893225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B548A6E-DD63-A30B-6820-390A269BA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4A16-382F-4B68-95B5-FB37A53BCAD5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23813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E90481-A30E-82F5-A593-947AE63AE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7D9C5A5-83D4-6366-B550-15256C9B81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7DCED41-0004-3F6D-9F3B-EF11C7E0C6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8EDF8B3-AC58-91C7-E7A9-644FAB4B7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83204-15E3-40B9-BDCC-F64F79AD84FC}" type="datetimeFigureOut">
              <a:rPr lang="fr-FR" smtClean="0"/>
              <a:t>31/03/2026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BCA2939-96E2-08F3-FD94-41E4461F7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9A2D167-7FB7-9693-DC05-8C63DEFE0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4A16-382F-4B68-95B5-FB37A53BCAD5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34676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44EE4D-E5C1-2E9C-EBE3-7697FA670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B742BA9-9578-AD81-4C29-61CD44E4BF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B517483-198A-6F26-AFFD-7D13D73AA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83204-15E3-40B9-BDCC-F64F79AD84FC}" type="datetimeFigureOut">
              <a:rPr lang="fr-FR" smtClean="0"/>
              <a:t>31/03/2026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3C72757-C83F-3AA6-C964-C36C504AD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7E99F3F-00AD-8BC5-AC69-CD51CDB8D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4A16-382F-4B68-95B5-FB37A53BCAD5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44877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F10CFF6-06A1-5885-1D5F-4E6981C673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834E0F6-0A75-E183-FA6D-AA6531F7CF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822B769-B342-69F0-495F-7512059E7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83204-15E3-40B9-BDCC-F64F79AD84FC}" type="datetimeFigureOut">
              <a:rPr lang="fr-FR" smtClean="0"/>
              <a:t>31/03/2026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620388B-E4AC-19BC-E585-7788DED10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CEDF5DC-40DA-97FE-C046-66D33DADC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4A16-382F-4B68-95B5-FB37A53BCAD5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72735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9693CCC-4C28-903D-E29F-27B8DBE99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6D8F426-EEB1-9048-1ACE-FAA3E06B8C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5B55430-C0C9-940D-5B57-F50BCAC1E3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D83204-15E3-40B9-BDCC-F64F79AD84FC}" type="datetimeFigureOut">
              <a:rPr lang="fr-FR" smtClean="0"/>
              <a:t>31/03/2026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B19E299-14FF-032E-AB84-FEC752E227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D8AD377-E640-9F62-6467-87D2932B0A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1B4A16-382F-4B68-95B5-FB37A53BCAD5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75036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4C63D7-8FB3-3A73-18FC-8A00CEEBD2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2735"/>
            <a:ext cx="9144000" cy="2271252"/>
          </a:xfrm>
        </p:spPr>
        <p:txBody>
          <a:bodyPr>
            <a:normAutofit fontScale="90000"/>
          </a:bodyPr>
          <a:lstStyle/>
          <a:p>
            <a:r>
              <a:rPr lang="fr-FR" dirty="0"/>
              <a:t>Rapport de Projet Data – Kadea Telco</a:t>
            </a:r>
            <a:br>
              <a:rPr lang="fr-FR" dirty="0"/>
            </a:b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7020D55-853E-18C0-F5A6-5DCB855BC5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5690" y="2787445"/>
            <a:ext cx="11267768" cy="3937820"/>
          </a:xfrm>
        </p:spPr>
        <p:txBody>
          <a:bodyPr/>
          <a:lstStyle/>
          <a:p>
            <a:r>
              <a:rPr lang="fr-FR" sz="4000" dirty="0"/>
              <a:t>Présenté par :Yakolo luzaka </a:t>
            </a:r>
            <a:r>
              <a:rPr lang="fr-FR" sz="4000"/>
              <a:t>rachel</a:t>
            </a:r>
            <a:endParaRPr lang="fr-FR" sz="4000" b="1" dirty="0"/>
          </a:p>
          <a:p>
            <a:r>
              <a:rPr lang="fr-FR" sz="4000" dirty="0"/>
              <a:t>Destinataire : Direction Générale &amp; Direction Technique</a:t>
            </a:r>
          </a:p>
          <a:p>
            <a:r>
              <a:rPr lang="fr-FR" sz="4000" dirty="0"/>
              <a:t>Date : 30/03/2026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061249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51BF5A-B701-CD57-EF00-C03CF894D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1. </a:t>
            </a:r>
            <a:r>
              <a:rPr lang="fr-FR" dirty="0">
                <a:solidFill>
                  <a:srgbClr val="FF0000"/>
                </a:solidFill>
              </a:rPr>
              <a:t>Contexte et Enjeux Stratégiques</a:t>
            </a:r>
            <a:br>
              <a:rPr lang="fr-FR" dirty="0"/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62D0A82-48BB-C7A6-1071-EE199C7ECD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4000" dirty="0"/>
              <a:t>Kadea Telco, opérateur historique du secteur des télécommunications, traverse une période critique marquée par :</a:t>
            </a:r>
          </a:p>
          <a:p>
            <a:r>
              <a:rPr lang="fr-FR" sz="4000" dirty="0"/>
              <a:t>Une instabilité réseau entrainant des interruptions de service fréquentes.</a:t>
            </a:r>
          </a:p>
          <a:p>
            <a:r>
              <a:rPr lang="fr-FR" sz="4000" dirty="0"/>
              <a:t>Une concurrence accrue sur les offres mobiles et internet.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73378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4C23FB-CBD9-24C5-7199-3478AB4C2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245" y="165472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fr-FR" dirty="0"/>
              <a:t>2. </a:t>
            </a:r>
            <a:r>
              <a:rPr lang="fr-FR" u="sng" dirty="0">
                <a:solidFill>
                  <a:srgbClr val="FF0000"/>
                </a:solidFill>
              </a:rPr>
              <a:t>Objectifs</a:t>
            </a:r>
            <a:r>
              <a:rPr lang="fr-FR" dirty="0"/>
              <a:t> </a:t>
            </a:r>
            <a:br>
              <a:rPr lang="fr-FR" dirty="0"/>
            </a:br>
            <a:br>
              <a:rPr lang="fr-FR" dirty="0"/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7215FF-30D8-76B8-99C2-99CDDDE4A4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9871"/>
            <a:ext cx="10515600" cy="5427406"/>
          </a:xfrm>
        </p:spPr>
        <p:txBody>
          <a:bodyPr>
            <a:normAutofit/>
          </a:bodyPr>
          <a:lstStyle/>
          <a:p>
            <a:r>
              <a:rPr lang="fr-FR" sz="3200" dirty="0"/>
              <a:t>L  objectif est  de prioriser les régions les plus critiques et de formuler des recommandations stratégiques a destination du Directeur General.</a:t>
            </a:r>
          </a:p>
        </p:txBody>
      </p:sp>
    </p:spTree>
    <p:extLst>
      <p:ext uri="{BB962C8B-B14F-4D97-AF65-F5344CB8AC3E}">
        <p14:creationId xmlns:p14="http://schemas.microsoft.com/office/powerpoint/2010/main" val="47170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oneTexte 8">
            <a:extLst>
              <a:ext uri="{FF2B5EF4-FFF2-40B4-BE49-F238E27FC236}">
                <a16:creationId xmlns:a16="http://schemas.microsoft.com/office/drawing/2014/main" id="{29B02C70-598A-76A0-A96B-32FA3A039BCF}"/>
              </a:ext>
            </a:extLst>
          </p:cNvPr>
          <p:cNvSpPr txBox="1"/>
          <p:nvPr/>
        </p:nvSpPr>
        <p:spPr>
          <a:xfrm>
            <a:off x="191069" y="476548"/>
            <a:ext cx="11696131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/>
              <a:t>3.</a:t>
            </a:r>
            <a:r>
              <a:rPr lang="fr-FR" sz="3200" u="sng" dirty="0">
                <a:solidFill>
                  <a:srgbClr val="FF0000"/>
                </a:solidFill>
              </a:rPr>
              <a:t>Identification des 3 régions les plus critiques</a:t>
            </a:r>
          </a:p>
          <a:p>
            <a:endParaRPr lang="fr-FR" sz="3200" u="sng" dirty="0">
              <a:solidFill>
                <a:srgbClr val="FF0000"/>
              </a:solidFill>
            </a:endParaRPr>
          </a:p>
          <a:p>
            <a:r>
              <a:rPr lang="fr-FR" sz="3200" dirty="0"/>
              <a:t> j’ai cité trois provinces Ituri, Kwango et nord Kivu sont les plus touchées , il y a des pannes les plus longues et les plus couteuses liées aux plusieurs pannes d’antennes.</a:t>
            </a:r>
          </a:p>
          <a:p>
            <a:endParaRPr lang="fr-FR" sz="3200" dirty="0"/>
          </a:p>
          <a:p>
            <a:endParaRPr lang="fr-FR" sz="3200" dirty="0"/>
          </a:p>
          <a:p>
            <a:endParaRPr lang="fr-FR" sz="3200" dirty="0"/>
          </a:p>
          <a:p>
            <a:endParaRPr lang="fr-FR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3200" dirty="0"/>
          </a:p>
          <a:p>
            <a:endParaRPr lang="fr-FR" sz="3200" dirty="0"/>
          </a:p>
          <a:p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2036708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ZoneTexte 19">
            <a:extLst>
              <a:ext uri="{FF2B5EF4-FFF2-40B4-BE49-F238E27FC236}">
                <a16:creationId xmlns:a16="http://schemas.microsoft.com/office/drawing/2014/main" id="{337EA90E-AE3D-4BA9-80C6-52D5EF5F9CD1}"/>
              </a:ext>
            </a:extLst>
          </p:cNvPr>
          <p:cNvSpPr txBox="1"/>
          <p:nvPr/>
        </p:nvSpPr>
        <p:spPr>
          <a:xfrm>
            <a:off x="0" y="0"/>
            <a:ext cx="12192001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/>
              <a:t>5.</a:t>
            </a:r>
            <a:r>
              <a:rPr lang="fr-FR" sz="3200" u="sng" dirty="0">
                <a:solidFill>
                  <a:srgbClr val="FF0000"/>
                </a:solidFill>
              </a:rPr>
              <a:t>Recommandations stratégiques</a:t>
            </a:r>
          </a:p>
          <a:p>
            <a:endParaRPr lang="fr-FR" sz="3200" dirty="0"/>
          </a:p>
          <a:p>
            <a:r>
              <a:rPr lang="fr-FR" sz="3200" dirty="0"/>
              <a:t>1.Renforce la maintenance préventive sur les zones centre et Nord .</a:t>
            </a:r>
          </a:p>
          <a:p>
            <a:endParaRPr lang="fr-FR" sz="3200" dirty="0"/>
          </a:p>
          <a:p>
            <a:r>
              <a:rPr lang="fr-FR" sz="3200" dirty="0"/>
              <a:t>2.Prioriser les investissements réseau sur les nœuds  de transmission le plus défaillant</a:t>
            </a:r>
          </a:p>
          <a:p>
            <a:r>
              <a:rPr lang="fr-FR" sz="3200" dirty="0"/>
              <a:t>3.Deployer un modelé de storting </a:t>
            </a:r>
            <a:r>
              <a:rPr lang="fr-FR" sz="3200" dirty="0" err="1"/>
              <a:t>chrun</a:t>
            </a:r>
            <a:r>
              <a:rPr lang="fr-FR" sz="3200" dirty="0"/>
              <a:t> pour anticiper les départs clients a  haut risque.</a:t>
            </a:r>
          </a:p>
          <a:p>
            <a:r>
              <a:rPr lang="fr-FR" sz="3200" dirty="0"/>
              <a:t>4.Lancer un plan de reconquête cible sur les clients impactes par des pannes répétées</a:t>
            </a:r>
          </a:p>
          <a:p>
            <a:r>
              <a:rPr lang="fr-FR" sz="3200" dirty="0"/>
              <a:t>5.Institutionnaliser le </a:t>
            </a:r>
            <a:r>
              <a:rPr lang="fr-FR" sz="3200" dirty="0" err="1"/>
              <a:t>repoting</a:t>
            </a:r>
            <a:r>
              <a:rPr lang="fr-FR" sz="3200" dirty="0"/>
              <a:t> Power BI comme outil unique de pilotage technique et commercial.</a:t>
            </a:r>
          </a:p>
        </p:txBody>
      </p:sp>
    </p:spTree>
    <p:extLst>
      <p:ext uri="{BB962C8B-B14F-4D97-AF65-F5344CB8AC3E}">
        <p14:creationId xmlns:p14="http://schemas.microsoft.com/office/powerpoint/2010/main" val="2752504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ZoneTexte 11">
            <a:extLst>
              <a:ext uri="{FF2B5EF4-FFF2-40B4-BE49-F238E27FC236}">
                <a16:creationId xmlns:a16="http://schemas.microsoft.com/office/drawing/2014/main" id="{E277D280-DE9F-EAFF-67B3-DE30698DA073}"/>
              </a:ext>
            </a:extLst>
          </p:cNvPr>
          <p:cNvSpPr txBox="1"/>
          <p:nvPr/>
        </p:nvSpPr>
        <p:spPr>
          <a:xfrm>
            <a:off x="0" y="0"/>
            <a:ext cx="121920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u="sng" dirty="0">
                <a:solidFill>
                  <a:srgbClr val="FF0000"/>
                </a:solidFill>
              </a:rPr>
              <a:t>Conclusion</a:t>
            </a:r>
          </a:p>
          <a:p>
            <a:r>
              <a:rPr lang="fr-FR" sz="3200" dirty="0"/>
              <a:t> </a:t>
            </a:r>
          </a:p>
          <a:p>
            <a:endParaRPr lang="fr-FR" sz="3200" dirty="0"/>
          </a:p>
          <a:p>
            <a:r>
              <a:rPr lang="fr-FR" sz="3200" dirty="0"/>
              <a:t>La  mise en place d une gouvernance data  robuste et d un </a:t>
            </a:r>
            <a:r>
              <a:rPr lang="fr-FR" sz="3200" dirty="0" err="1"/>
              <a:t>reporting</a:t>
            </a:r>
            <a:r>
              <a:rPr lang="fr-FR" sz="3200" dirty="0"/>
              <a:t> Power BI intègre  per mettra a kadea </a:t>
            </a:r>
            <a:r>
              <a:rPr lang="fr-FR" sz="3200" dirty="0" err="1"/>
              <a:t>telco</a:t>
            </a:r>
            <a:r>
              <a:rPr lang="fr-FR" sz="3200" dirty="0"/>
              <a:t> de  reprendre  le contrôle sur la performance réseau, réduire les pertes financières et anticiper la fuite des clients.</a:t>
            </a:r>
          </a:p>
          <a:p>
            <a:r>
              <a:rPr lang="fr-FR" sz="3200" dirty="0"/>
              <a:t> Cette transformation data – </a:t>
            </a:r>
            <a:r>
              <a:rPr lang="fr-FR" sz="3200" dirty="0" err="1"/>
              <a:t>driven</a:t>
            </a:r>
            <a:r>
              <a:rPr lang="fr-FR" sz="3200" dirty="0"/>
              <a:t>  constitue un levier  essentiel pour restaurer la compétitive et la confiance dans le  marche télécom en pleine  mutation.</a:t>
            </a:r>
          </a:p>
        </p:txBody>
      </p:sp>
    </p:spTree>
    <p:extLst>
      <p:ext uri="{BB962C8B-B14F-4D97-AF65-F5344CB8AC3E}">
        <p14:creationId xmlns:p14="http://schemas.microsoft.com/office/powerpoint/2010/main" val="135687350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</TotalTime>
  <Words>287</Words>
  <Application>Microsoft Office PowerPoint</Application>
  <PresentationFormat>Grand écran</PresentationFormat>
  <Paragraphs>32</Paragraphs>
  <Slides>6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Thème Office</vt:lpstr>
      <vt:lpstr>Rapport de Projet Data – Kadea Telco </vt:lpstr>
      <vt:lpstr>1. Contexte et Enjeux Stratégiques </vt:lpstr>
      <vt:lpstr>2. Objectifs   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RACHEL yakolo</dc:creator>
  <cp:lastModifiedBy>RACHEL yakolo</cp:lastModifiedBy>
  <cp:revision>16</cp:revision>
  <dcterms:created xsi:type="dcterms:W3CDTF">2026-03-29T06:20:47Z</dcterms:created>
  <dcterms:modified xsi:type="dcterms:W3CDTF">2026-03-31T17:16:48Z</dcterms:modified>
</cp:coreProperties>
</file>